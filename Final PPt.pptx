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2"/>
  </p:notesMasterIdLst>
  <p:handoutMasterIdLst>
    <p:handoutMasterId r:id="rId23"/>
  </p:handoutMasterIdLst>
  <p:sldIdLst>
    <p:sldId id="338" r:id="rId5"/>
    <p:sldId id="327" r:id="rId6"/>
    <p:sldId id="315" r:id="rId7"/>
    <p:sldId id="329" r:id="rId8"/>
    <p:sldId id="302" r:id="rId9"/>
    <p:sldId id="339" r:id="rId10"/>
    <p:sldId id="358" r:id="rId11"/>
    <p:sldId id="359" r:id="rId12"/>
    <p:sldId id="360" r:id="rId13"/>
    <p:sldId id="361" r:id="rId14"/>
    <p:sldId id="362" r:id="rId15"/>
    <p:sldId id="363" r:id="rId16"/>
    <p:sldId id="364" r:id="rId17"/>
    <p:sldId id="341" r:id="rId18"/>
    <p:sldId id="342" r:id="rId19"/>
    <p:sldId id="343" r:id="rId20"/>
    <p:sldId id="304"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p:scale>
          <a:sx n="73" d="100"/>
          <a:sy n="73" d="100"/>
        </p:scale>
        <p:origin x="324" y="-9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9/15/2026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9/15/2026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9/15/2026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9/15/2026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9/15/2026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rajanaveenalajangi/-Seasonal-Agriculture-Performance-Analysis" TargetMode="External"/><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94360" y="2821498"/>
            <a:ext cx="6921137" cy="868680"/>
          </a:xfrm>
        </p:spPr>
        <p:txBody>
          <a:bodyPr vert="horz" wrap="square" lIns="27432" tIns="27432" rIns="27432" bIns="27432" rtlCol="0" anchor="t">
            <a:normAutofit fontScale="32500" lnSpcReduction="20000"/>
          </a:bodyPr>
          <a:lstStyle/>
          <a:p>
            <a:pPr algn="l"/>
            <a:r>
              <a:rPr sz="11200" b="1" dirty="0">
                <a:solidFill>
                  <a:srgbClr val="000000"/>
                </a:solidFill>
                <a:latin typeface="Aptos"/>
              </a:rPr>
              <a:t>Alajangi Raja Naveen Naidu</a:t>
            </a:r>
            <a:endParaRPr lang="en-IN" sz="11200" b="0" dirty="0">
              <a:solidFill>
                <a:schemeClr val="tx1"/>
              </a:solidFill>
            </a:endParaRPr>
          </a:p>
          <a:p>
            <a:r>
              <a:rPr sz="5100" b="1" dirty="0">
                <a:solidFill>
                  <a:srgbClr val="000000"/>
                </a:solidFill>
                <a:latin typeface="Aptos"/>
              </a:rPr>
              <a:t>Raghu Engineering College</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94360" y="3772923"/>
            <a:ext cx="4998720" cy="743448"/>
          </a:xfrm>
        </p:spPr>
        <p:txBody>
          <a:bodyPr wrap="square" lIns="54864" tIns="54864" rIns="54864" bIns="54864">
            <a:normAutofit/>
          </a:bodyPr>
          <a:lstStyle/>
          <a:p>
            <a:pPr algn="l"/>
            <a:r>
              <a:rPr sz="2400" b="1" dirty="0">
                <a:solidFill>
                  <a:srgbClr val="000000"/>
                </a:solidFill>
                <a:latin typeface="Aptos"/>
              </a:rPr>
              <a:t>Project Title -</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1105990" y="3429000"/>
            <a:ext cx="8795656" cy="1206500"/>
          </a:xfrm>
          <a:prstGeom prst="rect">
            <a:avLst/>
          </a:prstGeom>
        </p:spPr>
        <p:txBody>
          <a:bodyPr vert="horz" wrap="square" lIns="54864" tIns="54864" rIns="54864" bIns="54864" rtlCol="0" anchor="ctr">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ctr"/>
            <a:r>
              <a:rPr sz="2400" b="1" dirty="0">
                <a:solidFill>
                  <a:srgbClr val="000000"/>
                </a:solidFill>
                <a:latin typeface="Aptos"/>
              </a:rPr>
              <a:t>Seasonal Agriculture</a:t>
            </a:r>
            <a:r>
              <a:rPr lang="en-US" sz="2400" b="1" dirty="0">
                <a:solidFill>
                  <a:srgbClr val="000000"/>
                </a:solidFill>
                <a:latin typeface="Aptos"/>
              </a:rPr>
              <a:t> </a:t>
            </a:r>
            <a:r>
              <a:rPr sz="2400" b="1" dirty="0">
                <a:solidFill>
                  <a:srgbClr val="000000"/>
                </a:solidFill>
                <a:latin typeface="Aptos"/>
              </a:rPr>
              <a:t>Performance Analysis</a:t>
            </a:r>
            <a:endParaRPr lang="en-GB"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594360" y="4476113"/>
            <a:ext cx="3200400" cy="731520"/>
          </a:xfrm>
          <a:prstGeom prst="rect">
            <a:avLst/>
          </a:prstGeom>
          <a:noFill/>
        </p:spPr>
        <p:txBody>
          <a:bodyPr wrap="square" lIns="54864" tIns="54864" rIns="54864" bIns="54864" rtlCol="0">
            <a:spAutoFit/>
          </a:bodyPr>
          <a:lstStyle/>
          <a:p>
            <a:pPr algn="l"/>
            <a:r>
              <a:rPr sz="1500" b="1" dirty="0">
                <a:solidFill>
                  <a:srgbClr val="000000"/>
                </a:solidFill>
                <a:latin typeface="Aptos"/>
              </a:rPr>
              <a:t>AICTE STU ID : STU6a689eeae48e61785241322</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431419"/>
            <a:ext cx="7575006" cy="3607987"/>
          </a:xfrm>
        </p:spPr>
        <p:txBody>
          <a:bodyPr vert="horz" wrap="square" lIns="54864" tIns="54864" rIns="54864" bIns="54864" rtlCol="0" anchor="t">
            <a:noAutofit/>
          </a:bodyPr>
          <a:lstStyle/>
          <a:p>
            <a:pPr algn="l">
              <a:lnSpc>
                <a:spcPct val="100000"/>
              </a:lnSpc>
            </a:pPr>
            <a:r>
              <a:rPr sz="2400" b="0" dirty="0">
                <a:solidFill>
                  <a:srgbClr val="000000"/>
                </a:solidFill>
                <a:latin typeface="Aptos"/>
              </a:rPr>
              <a:t>Agricultural activities are influenced by seasonal variations in environmental conditions, farming practices, resource availability and market conditions. Raw agricultural data does not clearly explain how performance changes across seasons.
The project analyzes the agricultural dataset to identify meaningful seasonal patterns, trends, relationships and variations in performance.</a:t>
            </a:r>
            <a:endParaRPr lang="en-IN" sz="32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wrap="square" lIns="54864" tIns="54864" rIns="54864" bIns="54864">
            <a:normAutofit/>
          </a:bodyPr>
          <a:lstStyle/>
          <a:p>
            <a:pPr algn="l"/>
            <a:r>
              <a:rPr sz="4000" b="1" dirty="0">
                <a:solidFill>
                  <a:srgbClr val="000000"/>
                </a:solidFill>
                <a:latin typeface="Aptos"/>
              </a:rPr>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676139"/>
            <a:ext cx="6276109" cy="830997"/>
          </a:xfrm>
        </p:spPr>
        <p:txBody>
          <a:bodyPr wrap="square" lIns="54864" tIns="54864" rIns="54864" bIns="54864">
            <a:noAutofit/>
          </a:bodyPr>
          <a:lstStyle/>
          <a:p>
            <a:pPr algn="l"/>
            <a:r>
              <a:rPr sz="4000" b="1" dirty="0">
                <a:solidFill>
                  <a:srgbClr val="191919"/>
                </a:solidFill>
                <a:latin typeface="Aptos"/>
              </a:rPr>
              <a:t>Project Description</a:t>
            </a:r>
            <a:endParaRPr lang="en-IN" sz="8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10" name="TextBox 9"/>
          <p:cNvSpPr txBox="1"/>
          <p:nvPr/>
        </p:nvSpPr>
        <p:spPr>
          <a:xfrm>
            <a:off x="685800" y="1417320"/>
            <a:ext cx="9067800" cy="3953903"/>
          </a:xfrm>
          <a:prstGeom prst="rect">
            <a:avLst/>
          </a:prstGeom>
          <a:noFill/>
        </p:spPr>
        <p:txBody>
          <a:bodyPr wrap="square" lIns="45720" tIns="27432" rIns="45720" bIns="27432">
            <a:spAutoFit/>
          </a:bodyPr>
          <a:lstStyle/>
          <a:p>
            <a:pPr>
              <a:spcAft>
                <a:spcPts val="400"/>
              </a:spcAft>
              <a:defRPr sz="1500">
                <a:solidFill>
                  <a:srgbClr val="191919"/>
                </a:solidFill>
                <a:latin typeface="Aptos"/>
              </a:defRPr>
            </a:pPr>
            <a:r>
              <a:rPr sz="2400" dirty="0"/>
              <a:t>• Dataset: 4,000 agricultural records with 28 attributes covering season, location, crop, environment, resources and economics.</a:t>
            </a:r>
          </a:p>
          <a:p>
            <a:pPr>
              <a:spcAft>
                <a:spcPts val="400"/>
              </a:spcAft>
              <a:defRPr sz="1500">
                <a:solidFill>
                  <a:srgbClr val="191919"/>
                </a:solidFill>
                <a:latin typeface="Aptos"/>
              </a:defRPr>
            </a:pPr>
            <a:r>
              <a:rPr sz="2400" dirty="0"/>
              <a:t>• Data preparation: missing-value analysis, season-specific median imputation and duplicate-record validation.</a:t>
            </a:r>
          </a:p>
          <a:p>
            <a:pPr>
              <a:spcAft>
                <a:spcPts val="400"/>
              </a:spcAft>
              <a:defRPr sz="1500">
                <a:solidFill>
                  <a:srgbClr val="191919"/>
                </a:solidFill>
                <a:latin typeface="Aptos"/>
              </a:defRPr>
            </a:pPr>
            <a:r>
              <a:rPr sz="2400" dirty="0"/>
              <a:t>• Exploration: univariate, bivariate and multivariate analysis to compare agricultural performance.</a:t>
            </a:r>
          </a:p>
          <a:p>
            <a:pPr>
              <a:spcAft>
                <a:spcPts val="400"/>
              </a:spcAft>
              <a:defRPr sz="1500">
                <a:solidFill>
                  <a:srgbClr val="191919"/>
                </a:solidFill>
                <a:latin typeface="Aptos"/>
              </a:defRPr>
            </a:pPr>
            <a:r>
              <a:rPr sz="2400" dirty="0"/>
              <a:t>• Advanced analysis: correlation matrix, seasonal comparisons, irrigation efficiency, regional profitability and risk analysis.</a:t>
            </a:r>
          </a:p>
          <a:p>
            <a:pPr>
              <a:spcAft>
                <a:spcPts val="400"/>
              </a:spcAft>
              <a:defRPr sz="1500">
                <a:solidFill>
                  <a:srgbClr val="191919"/>
                </a:solidFill>
                <a:latin typeface="Aptos"/>
              </a:defRPr>
            </a:pPr>
            <a:r>
              <a:rPr sz="2400" dirty="0"/>
              <a:t>• Outcome: evidence-based insights and practical recommendations for seasonal agricultural planning.</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85800" y="719863"/>
            <a:ext cx="10046070" cy="802641"/>
          </a:xfrm>
        </p:spPr>
        <p:txBody>
          <a:bodyPr wrap="square" lIns="54864" tIns="54864" rIns="54864" bIns="54864">
            <a:normAutofit/>
          </a:bodyPr>
          <a:lstStyle/>
          <a:p>
            <a:pPr algn="l"/>
            <a:r>
              <a:rPr sz="4000" b="1" dirty="0">
                <a:solidFill>
                  <a:srgbClr val="191919"/>
                </a:solidFill>
                <a:latin typeface="Aptos"/>
              </a:rPr>
              <a:t>WHO ARE THE END USERS?</a:t>
            </a:r>
            <a:endParaRPr lang="en-IN" sz="4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17" name="TextBox 16"/>
          <p:cNvSpPr txBox="1"/>
          <p:nvPr/>
        </p:nvSpPr>
        <p:spPr>
          <a:xfrm>
            <a:off x="685800" y="1417320"/>
            <a:ext cx="8138160" cy="3533275"/>
          </a:xfrm>
          <a:prstGeom prst="rect">
            <a:avLst/>
          </a:prstGeom>
          <a:noFill/>
        </p:spPr>
        <p:txBody>
          <a:bodyPr wrap="square" lIns="45720" tIns="27432" rIns="45720" bIns="27432">
            <a:spAutoFit/>
          </a:bodyPr>
          <a:lstStyle/>
          <a:p>
            <a:pPr>
              <a:spcAft>
                <a:spcPts val="400"/>
              </a:spcAft>
              <a:defRPr sz="1600">
                <a:solidFill>
                  <a:srgbClr val="191919"/>
                </a:solidFill>
                <a:latin typeface="Aptos"/>
              </a:defRPr>
            </a:pPr>
            <a:r>
              <a:rPr sz="2400" dirty="0"/>
              <a:t>• Farmers and farm managers — compare seasonal productivity, resource use and profitability.</a:t>
            </a:r>
          </a:p>
          <a:p>
            <a:pPr>
              <a:spcAft>
                <a:spcPts val="400"/>
              </a:spcAft>
              <a:defRPr sz="1600">
                <a:solidFill>
                  <a:srgbClr val="191919"/>
                </a:solidFill>
                <a:latin typeface="Aptos"/>
              </a:defRPr>
            </a:pPr>
            <a:r>
              <a:rPr sz="2400" dirty="0"/>
              <a:t>• Agricultural planners — use seasonal patterns for evidence-based planning and resource allocation.</a:t>
            </a:r>
          </a:p>
          <a:p>
            <a:pPr>
              <a:spcAft>
                <a:spcPts val="400"/>
              </a:spcAft>
              <a:defRPr sz="1600">
                <a:solidFill>
                  <a:srgbClr val="191919"/>
                </a:solidFill>
                <a:latin typeface="Aptos"/>
              </a:defRPr>
            </a:pPr>
            <a:r>
              <a:rPr sz="2400" dirty="0"/>
              <a:t>• Agricultural data analysts and researchers — investigate relationships among environmental, operational and economic factors.</a:t>
            </a:r>
          </a:p>
          <a:p>
            <a:pPr>
              <a:spcAft>
                <a:spcPts val="400"/>
              </a:spcAft>
              <a:defRPr sz="1600">
                <a:solidFill>
                  <a:srgbClr val="191919"/>
                </a:solidFill>
                <a:latin typeface="Aptos"/>
              </a:defRPr>
            </a:pPr>
            <a:r>
              <a:rPr sz="2400" dirty="0"/>
              <a:t>• Policy and extension stakeholders — identify areas requiring further investigation and targeted support.</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wrap="square" lIns="54864" tIns="54864" rIns="54864" bIns="54864">
            <a:normAutofit/>
          </a:bodyPr>
          <a:lstStyle/>
          <a:p>
            <a:pPr algn="l"/>
            <a:r>
              <a:rPr sz="4000" b="1" dirty="0">
                <a:solidFill>
                  <a:srgbClr val="191919"/>
                </a:solidFill>
                <a:latin typeface="Aptos"/>
              </a:rPr>
              <a:t>Technology Used</a:t>
            </a:r>
          </a:p>
        </p:txBody>
      </p:sp>
      <p:sp>
        <p:nvSpPr>
          <p:cNvPr id="17" name="TextBox 16"/>
          <p:cNvSpPr txBox="1"/>
          <p:nvPr/>
        </p:nvSpPr>
        <p:spPr>
          <a:xfrm>
            <a:off x="777240" y="1417320"/>
            <a:ext cx="3657600" cy="443198"/>
          </a:xfrm>
          <a:prstGeom prst="rect">
            <a:avLst/>
          </a:prstGeom>
          <a:noFill/>
        </p:spPr>
        <p:txBody>
          <a:bodyPr wrap="square" lIns="36576" tIns="36576" rIns="36576" bIns="36576">
            <a:spAutoFit/>
          </a:bodyPr>
          <a:lstStyle/>
          <a:p>
            <a:pPr algn="l"/>
            <a:r>
              <a:rPr sz="2400" b="1" dirty="0">
                <a:solidFill>
                  <a:srgbClr val="145484"/>
                </a:solidFill>
                <a:latin typeface="Aptos"/>
              </a:rPr>
              <a:t>Programming &amp; Analysis</a:t>
            </a:r>
          </a:p>
        </p:txBody>
      </p:sp>
      <p:sp>
        <p:nvSpPr>
          <p:cNvPr id="18" name="TextBox 17"/>
          <p:cNvSpPr txBox="1"/>
          <p:nvPr/>
        </p:nvSpPr>
        <p:spPr>
          <a:xfrm>
            <a:off x="822960" y="1874519"/>
            <a:ext cx="3657600" cy="1686616"/>
          </a:xfrm>
          <a:prstGeom prst="rect">
            <a:avLst/>
          </a:prstGeom>
          <a:noFill/>
        </p:spPr>
        <p:txBody>
          <a:bodyPr wrap="square" lIns="45720" tIns="27432" rIns="45720" bIns="27432">
            <a:spAutoFit/>
          </a:bodyPr>
          <a:lstStyle/>
          <a:p>
            <a:pPr>
              <a:spcAft>
                <a:spcPts val="400"/>
              </a:spcAft>
              <a:defRPr sz="1600">
                <a:solidFill>
                  <a:srgbClr val="191919"/>
                </a:solidFill>
                <a:latin typeface="Aptos"/>
              </a:defRPr>
            </a:pPr>
            <a:r>
              <a:rPr sz="2400" dirty="0"/>
              <a:t>• Python</a:t>
            </a:r>
          </a:p>
          <a:p>
            <a:pPr>
              <a:spcAft>
                <a:spcPts val="400"/>
              </a:spcAft>
              <a:defRPr sz="1600">
                <a:solidFill>
                  <a:srgbClr val="191919"/>
                </a:solidFill>
                <a:latin typeface="Aptos"/>
              </a:defRPr>
            </a:pPr>
            <a:r>
              <a:rPr sz="2400" dirty="0"/>
              <a:t>• Pandas</a:t>
            </a:r>
          </a:p>
          <a:p>
            <a:pPr>
              <a:spcAft>
                <a:spcPts val="400"/>
              </a:spcAft>
              <a:defRPr sz="1600">
                <a:solidFill>
                  <a:srgbClr val="191919"/>
                </a:solidFill>
                <a:latin typeface="Aptos"/>
              </a:defRPr>
            </a:pPr>
            <a:r>
              <a:rPr sz="2400" dirty="0"/>
              <a:t>• NumPy</a:t>
            </a:r>
          </a:p>
          <a:p>
            <a:pPr>
              <a:spcAft>
                <a:spcPts val="400"/>
              </a:spcAft>
              <a:defRPr sz="1600">
                <a:solidFill>
                  <a:srgbClr val="191919"/>
                </a:solidFill>
                <a:latin typeface="Aptos"/>
              </a:defRPr>
            </a:pPr>
            <a:r>
              <a:rPr sz="2400" dirty="0"/>
              <a:t>• Jupyter Notebook</a:t>
            </a:r>
          </a:p>
        </p:txBody>
      </p:sp>
      <p:sp>
        <p:nvSpPr>
          <p:cNvPr id="19" name="TextBox 18"/>
          <p:cNvSpPr txBox="1"/>
          <p:nvPr/>
        </p:nvSpPr>
        <p:spPr>
          <a:xfrm>
            <a:off x="4617720" y="1417320"/>
            <a:ext cx="3749039" cy="443198"/>
          </a:xfrm>
          <a:prstGeom prst="rect">
            <a:avLst/>
          </a:prstGeom>
          <a:noFill/>
        </p:spPr>
        <p:txBody>
          <a:bodyPr wrap="square" lIns="36576" tIns="36576" rIns="36576" bIns="36576">
            <a:spAutoFit/>
          </a:bodyPr>
          <a:lstStyle/>
          <a:p>
            <a:pPr algn="l"/>
            <a:r>
              <a:rPr sz="2400" b="1" dirty="0">
                <a:solidFill>
                  <a:srgbClr val="145484"/>
                </a:solidFill>
                <a:latin typeface="Aptos"/>
              </a:rPr>
              <a:t>Visualization</a:t>
            </a:r>
          </a:p>
        </p:txBody>
      </p:sp>
      <p:sp>
        <p:nvSpPr>
          <p:cNvPr id="20" name="TextBox 19"/>
          <p:cNvSpPr txBox="1"/>
          <p:nvPr/>
        </p:nvSpPr>
        <p:spPr>
          <a:xfrm>
            <a:off x="4663440" y="1874519"/>
            <a:ext cx="3749039" cy="2055947"/>
          </a:xfrm>
          <a:prstGeom prst="rect">
            <a:avLst/>
          </a:prstGeom>
          <a:noFill/>
        </p:spPr>
        <p:txBody>
          <a:bodyPr wrap="square" lIns="45720" tIns="27432" rIns="45720" bIns="27432">
            <a:spAutoFit/>
          </a:bodyPr>
          <a:lstStyle/>
          <a:p>
            <a:pPr>
              <a:spcAft>
                <a:spcPts val="400"/>
              </a:spcAft>
              <a:defRPr sz="1600">
                <a:solidFill>
                  <a:srgbClr val="191919"/>
                </a:solidFill>
                <a:latin typeface="Aptos"/>
              </a:defRPr>
            </a:pPr>
            <a:r>
              <a:rPr sz="2400" dirty="0"/>
              <a:t>• Matplotlib</a:t>
            </a:r>
          </a:p>
          <a:p>
            <a:pPr>
              <a:spcAft>
                <a:spcPts val="400"/>
              </a:spcAft>
              <a:defRPr sz="1600">
                <a:solidFill>
                  <a:srgbClr val="191919"/>
                </a:solidFill>
                <a:latin typeface="Aptos"/>
              </a:defRPr>
            </a:pPr>
            <a:r>
              <a:rPr sz="2400" dirty="0"/>
              <a:t>• Seaborn</a:t>
            </a:r>
          </a:p>
          <a:p>
            <a:pPr>
              <a:spcAft>
                <a:spcPts val="400"/>
              </a:spcAft>
              <a:defRPr sz="1600">
                <a:solidFill>
                  <a:srgbClr val="191919"/>
                </a:solidFill>
                <a:latin typeface="Aptos"/>
              </a:defRPr>
            </a:pPr>
            <a:r>
              <a:rPr sz="2400" dirty="0"/>
              <a:t>• Statistical / correlation analysis</a:t>
            </a:r>
          </a:p>
          <a:p>
            <a:pPr>
              <a:spcAft>
                <a:spcPts val="400"/>
              </a:spcAft>
              <a:defRPr sz="1600">
                <a:solidFill>
                  <a:srgbClr val="191919"/>
                </a:solidFill>
                <a:latin typeface="Aptos"/>
              </a:defRPr>
            </a:pPr>
            <a:r>
              <a:rPr sz="2400" dirty="0"/>
              <a:t>• Pivot tables &amp; heatmaps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 name="TextBox 23"/>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Outlier Analysis</a:t>
            </a:r>
          </a:p>
        </p:txBody>
      </p:sp>
      <p:sp>
        <p:nvSpPr>
          <p:cNvPr id="25" name="Rectangle 24"/>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cropped_result_1.png"/>
          <p:cNvPicPr>
            <a:picLocks noChangeAspect="1"/>
          </p:cNvPicPr>
          <p:nvPr/>
        </p:nvPicPr>
        <p:blipFill>
          <a:blip r:embed="rId2"/>
          <a:stretch>
            <a:fillRect/>
          </a:stretch>
        </p:blipFill>
        <p:spPr>
          <a:xfrm>
            <a:off x="475488" y="1051560"/>
            <a:ext cx="5440680" cy="5166360"/>
          </a:xfrm>
          <a:prstGeom prst="rect">
            <a:avLst/>
          </a:prstGeom>
        </p:spPr>
      </p:pic>
      <p:sp>
        <p:nvSpPr>
          <p:cNvPr id="28" name="Rounded Rectangle 27"/>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30" name="TextBox 29"/>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Yield is concentrated at relatively low values, with many observations near the lower range.</a:t>
            </a:r>
          </a:p>
          <a:p>
            <a:pPr>
              <a:spcAft>
                <a:spcPts val="1100"/>
              </a:spcAft>
              <a:defRPr sz="1550">
                <a:solidFill>
                  <a:srgbClr val="232323"/>
                </a:solidFill>
                <a:latin typeface="Arial"/>
              </a:defRPr>
            </a:pPr>
            <a:r>
              <a:t>• The yield boxplot shows numerous high-side outliers; 302 yield outliers are flagged (7.55%).</a:t>
            </a:r>
          </a:p>
          <a:p>
            <a:pPr>
              <a:spcAft>
                <a:spcPts val="1100"/>
              </a:spcAft>
              <a:defRPr sz="1550">
                <a:solidFill>
                  <a:srgbClr val="232323"/>
                </a:solidFill>
                <a:latin typeface="Arial"/>
              </a:defRPr>
            </a:pPr>
            <a:r>
              <a:t>• Profit contains both positive and negative extremes, with 404 outliers flagged (10.10%).</a:t>
            </a:r>
          </a:p>
          <a:p>
            <a:pPr>
              <a:spcAft>
                <a:spcPts val="1100"/>
              </a:spcAft>
              <a:defRPr sz="1550">
                <a:solidFill>
                  <a:srgbClr val="232323"/>
                </a:solidFill>
                <a:latin typeface="Arial"/>
              </a:defRPr>
            </a:pPr>
            <a:r>
              <a:t>• Extreme observations should be reviewed carefully because they may represent genuine high-performing or unusual farms.</a:t>
            </a:r>
          </a:p>
        </p:txBody>
      </p:sp>
      <p:sp>
        <p:nvSpPr>
          <p:cNvPr id="31" name="TextBox 30"/>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01/08</a:t>
            </a:r>
          </a:p>
        </p:txBody>
      </p:sp>
    </p:spTree>
    <p:extLst>
      <p:ext uri="{BB962C8B-B14F-4D97-AF65-F5344CB8AC3E}">
        <p14:creationId xmlns:p14="http://schemas.microsoft.com/office/powerpoint/2010/main" val="1086225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Distribution of Records</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2.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Yield is strongly right-skewed, with most observations at relatively low values and a small number of high-yield observations.</a:t>
            </a:r>
          </a:p>
          <a:p>
            <a:pPr>
              <a:spcAft>
                <a:spcPts val="1100"/>
              </a:spcAft>
              <a:defRPr sz="1550">
                <a:solidFill>
                  <a:srgbClr val="232323"/>
                </a:solidFill>
                <a:latin typeface="Arial"/>
              </a:defRPr>
            </a:pPr>
            <a:r>
              <a:t>• Kharif and Rabi contain the largest numbers of records, while Zaid has substantially fewer observations.</a:t>
            </a:r>
          </a:p>
          <a:p>
            <a:pPr>
              <a:spcAft>
                <a:spcPts val="1100"/>
              </a:spcAft>
              <a:defRPr sz="1550">
                <a:solidFill>
                  <a:srgbClr val="232323"/>
                </a:solidFill>
                <a:latin typeface="Arial"/>
              </a:defRPr>
            </a:pPr>
            <a:r>
              <a:t>• Rice has the highest number of crop records, followed by Wheat and Maize; Sugarcane has the fewest in the chart.</a:t>
            </a:r>
          </a:p>
          <a:p>
            <a:pPr>
              <a:spcAft>
                <a:spcPts val="1100"/>
              </a:spcAft>
              <a:defRPr sz="1550">
                <a:solidFill>
                  <a:srgbClr val="232323"/>
                </a:solidFill>
                <a:latin typeface="Arial"/>
              </a:defRPr>
            </a:pPr>
            <a:r>
              <a:t>• Flood irrigation is most common, followed by Rainfed and Drip; Sprinkler has the lowest usage count.</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02/08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Yield vs Profit for Top 5 Farms</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3.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The chart compares yield and profit for the five farms with the largest observed values in the selected view.</a:t>
            </a:r>
          </a:p>
          <a:p>
            <a:pPr>
              <a:spcAft>
                <a:spcPts val="1100"/>
              </a:spcAft>
              <a:defRPr sz="1550">
                <a:solidFill>
                  <a:srgbClr val="232323"/>
                </a:solidFill>
                <a:latin typeface="Arial"/>
              </a:defRPr>
            </a:pPr>
            <a:r>
              <a:t>• Yield and profit use very different scales, so their plotted magnitudes should be interpreted as separate measures.</a:t>
            </a:r>
          </a:p>
          <a:p>
            <a:pPr>
              <a:spcAft>
                <a:spcPts val="1100"/>
              </a:spcAft>
              <a:defRPr sz="1550">
                <a:solidFill>
                  <a:srgbClr val="232323"/>
                </a:solidFill>
                <a:latin typeface="Arial"/>
              </a:defRPr>
            </a:pPr>
            <a:r>
              <a:t>• The comparison highlights how exceptional farm-level observations can dominate the overall range of the dataset.</a:t>
            </a:r>
          </a:p>
          <a:p>
            <a:pPr>
              <a:spcAft>
                <a:spcPts val="1100"/>
              </a:spcAft>
              <a:defRPr sz="1550">
                <a:solidFill>
                  <a:srgbClr val="232323"/>
                </a:solidFill>
                <a:latin typeface="Arial"/>
              </a:defRPr>
            </a:pPr>
            <a:r>
              <a:t>• These extreme cases are useful for investigation before drawing general conclusions.</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03/08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Seasonal Performance &amp; Resource Relationships</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4.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Kharif has the highest median yield, followed by Rabi, while Zaid has the lowest median yield.</a:t>
            </a:r>
          </a:p>
          <a:p>
            <a:pPr>
              <a:spcAft>
                <a:spcPts val="1100"/>
              </a:spcAft>
              <a:defRPr sz="1550">
                <a:solidFill>
                  <a:srgbClr val="232323"/>
                </a:solidFill>
                <a:latin typeface="Arial"/>
              </a:defRPr>
            </a:pPr>
            <a:r>
              <a:t>• Kharif also has the highest median profit; profitability varies considerably within all three seasons.</a:t>
            </a:r>
          </a:p>
          <a:p>
            <a:pPr>
              <a:spcAft>
                <a:spcPts val="1100"/>
              </a:spcAft>
              <a:defRPr sz="1550">
                <a:solidFill>
                  <a:srgbClr val="232323"/>
                </a:solidFill>
                <a:latin typeface="Arial"/>
              </a:defRPr>
            </a:pPr>
            <a:r>
              <a:t>• The rainfall-versus-yield plot does not show a strong simple linear relationship; rainfall is not the only factor affecting yield.</a:t>
            </a:r>
          </a:p>
          <a:p>
            <a:pPr>
              <a:spcAft>
                <a:spcPts val="1100"/>
              </a:spcAft>
              <a:defRPr sz="1550">
                <a:solidFill>
                  <a:srgbClr val="232323"/>
                </a:solidFill>
                <a:latin typeface="Arial"/>
              </a:defRPr>
            </a:pPr>
            <a:r>
              <a:t>• Fertilizer use also shows no strong simple linear relationship with yield, indicating the importance of other environmental and management factors.</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04/08</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Crop &amp; Irrigation Seasonal Analysis</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5.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The crop-by-season heatmap shows Sugarcane as a strong performer across all three seasons, with other crops showing smaller seasonal changes.</a:t>
            </a:r>
          </a:p>
          <a:p>
            <a:pPr>
              <a:spcAft>
                <a:spcPts val="1100"/>
              </a:spcAft>
              <a:defRPr sz="1550">
                <a:solidFill>
                  <a:srgbClr val="232323"/>
                </a:solidFill>
                <a:latin typeface="Arial"/>
              </a:defRPr>
            </a:pPr>
            <a:r>
              <a:t>• Maize and Rice also maintain comparatively higher median yields than several crops in the table.</a:t>
            </a:r>
          </a:p>
          <a:p>
            <a:pPr>
              <a:spcAft>
                <a:spcPts val="1100"/>
              </a:spcAft>
              <a:defRPr sz="1550">
                <a:solidFill>
                  <a:srgbClr val="232323"/>
                </a:solidFill>
                <a:latin typeface="Arial"/>
              </a:defRPr>
            </a:pPr>
            <a:r>
              <a:t>• Drip produces the strongest median profit in Kharif among the irrigation methods shown.</a:t>
            </a:r>
          </a:p>
          <a:p>
            <a:pPr>
              <a:spcAft>
                <a:spcPts val="1100"/>
              </a:spcAft>
              <a:defRPr sz="1550">
                <a:solidFill>
                  <a:srgbClr val="232323"/>
                </a:solidFill>
                <a:latin typeface="Arial"/>
              </a:defRPr>
            </a:pPr>
            <a:r>
              <a:t>• Several irrigation methods show sharply lower profits in Zaid, demonstrating that irrigation performance depends strongly on season.</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05/08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Correlation Matrix</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6.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The correlation matrix summarizes relationships among rainfall, temperature, sunlight, soil moisture, fertilizer, water usage, yield and profit variables.</a:t>
            </a:r>
          </a:p>
          <a:p>
            <a:pPr>
              <a:spcAft>
                <a:spcPts val="1100"/>
              </a:spcAft>
              <a:defRPr sz="1550">
                <a:solidFill>
                  <a:srgbClr val="232323"/>
                </a:solidFill>
                <a:latin typeface="Arial"/>
              </a:defRPr>
            </a:pPr>
            <a:r>
              <a:t>• It helps identify numeric variables that move together and relationships that are comparatively weak.</a:t>
            </a:r>
          </a:p>
          <a:p>
            <a:pPr>
              <a:spcAft>
                <a:spcPts val="1100"/>
              </a:spcAft>
              <a:defRPr sz="1550">
                <a:solidFill>
                  <a:srgbClr val="232323"/>
                </a:solidFill>
                <a:latin typeface="Arial"/>
              </a:defRPr>
            </a:pPr>
            <a:r>
              <a:t>• Correlation supports exploratory analysis and variable selection for deeper analysis or future modelling.</a:t>
            </a:r>
          </a:p>
          <a:p>
            <a:pPr>
              <a:spcAft>
                <a:spcPts val="1100"/>
              </a:spcAft>
              <a:defRPr sz="1550">
                <a:solidFill>
                  <a:srgbClr val="232323"/>
                </a:solidFill>
                <a:latin typeface="Arial"/>
              </a:defRPr>
            </a:pPr>
            <a:r>
              <a:t>• Correlation alone does not establish causation.</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06/08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Disease/Pest Risk &amp; Profit</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7.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Median profit varies substantially across disease and pest risk bands and across seasons.</a:t>
            </a:r>
          </a:p>
          <a:p>
            <a:pPr>
              <a:spcAft>
                <a:spcPts val="1100"/>
              </a:spcAft>
              <a:defRPr sz="1550">
                <a:solidFill>
                  <a:srgbClr val="232323"/>
                </a:solidFill>
                <a:latin typeface="Arial"/>
              </a:defRPr>
            </a:pPr>
            <a:r>
              <a:t>• Kharif shows a very large negative median profit in the low-risk band in the displayed results.</a:t>
            </a:r>
          </a:p>
          <a:p>
            <a:pPr>
              <a:spcAft>
                <a:spcPts val="1100"/>
              </a:spcAft>
              <a:defRPr sz="1550">
                <a:solidFill>
                  <a:srgbClr val="232323"/>
                </a:solidFill>
                <a:latin typeface="Arial"/>
              </a:defRPr>
            </a:pPr>
            <a:r>
              <a:t>• Zaid also shows negative median profit in several risk bands, while some Kharif and Rabi bands remain positive.</a:t>
            </a:r>
          </a:p>
          <a:p>
            <a:pPr>
              <a:spcAft>
                <a:spcPts val="1100"/>
              </a:spcAft>
              <a:defRPr sz="1550">
                <a:solidFill>
                  <a:srgbClr val="232323"/>
                </a:solidFill>
                <a:latin typeface="Arial"/>
              </a:defRPr>
            </a:pPr>
            <a:r>
              <a:t>• The findings suggest that profitability and agricultural risk should be considered together.</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07/08</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66928" y="320040"/>
            <a:ext cx="10058400" cy="438912"/>
          </a:xfrm>
          <a:prstGeom prst="rect">
            <a:avLst/>
          </a:prstGeom>
          <a:noFill/>
        </p:spPr>
        <p:txBody>
          <a:bodyPr wrap="none">
            <a:spAutoFit/>
          </a:bodyPr>
          <a:lstStyle/>
          <a:p>
            <a:pPr>
              <a:defRPr sz="2500" b="1">
                <a:solidFill>
                  <a:srgbClr val="000000"/>
                </a:solidFill>
                <a:latin typeface="Arial"/>
              </a:defRPr>
            </a:pPr>
            <a:r>
              <a:t>RESULTS — Regional Profitability</a:t>
            </a:r>
          </a:p>
        </p:txBody>
      </p:sp>
      <p:sp>
        <p:nvSpPr>
          <p:cNvPr id="3" name="Rectangle 2"/>
          <p:cNvSpPr/>
          <p:nvPr/>
        </p:nvSpPr>
        <p:spPr>
          <a:xfrm>
            <a:off x="502920" y="768096"/>
            <a:ext cx="10058400" cy="45720"/>
          </a:xfrm>
          <a:prstGeom prst="rect">
            <a:avLst/>
          </a:prstGeom>
          <a:solidFill>
            <a:srgbClr val="32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384048" y="960120"/>
            <a:ext cx="5623560" cy="5349240"/>
          </a:xfrm>
          <a:prstGeom prst="roundRect">
            <a:avLst/>
          </a:prstGeom>
          <a:solidFill>
            <a:srgbClr val="F7F8F9"/>
          </a:solidFill>
          <a:ln>
            <a:solidFill>
              <a:srgbClr val="CDCDC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cropped_result_8.png"/>
          <p:cNvPicPr>
            <a:picLocks noChangeAspect="1"/>
          </p:cNvPicPr>
          <p:nvPr/>
        </p:nvPicPr>
        <p:blipFill>
          <a:blip r:embed="rId2"/>
          <a:stretch>
            <a:fillRect/>
          </a:stretch>
        </p:blipFill>
        <p:spPr>
          <a:xfrm>
            <a:off x="475488" y="1051560"/>
            <a:ext cx="5440680" cy="5166360"/>
          </a:xfrm>
          <a:prstGeom prst="rect">
            <a:avLst/>
          </a:prstGeom>
        </p:spPr>
      </p:pic>
      <p:sp>
        <p:nvSpPr>
          <p:cNvPr id="6" name="Rounded Rectangle 5"/>
          <p:cNvSpPr/>
          <p:nvPr/>
        </p:nvSpPr>
        <p:spPr>
          <a:xfrm>
            <a:off x="6144768" y="960120"/>
            <a:ext cx="4617720" cy="5349240"/>
          </a:xfrm>
          <a:prstGeom prst="roundRect">
            <a:avLst/>
          </a:prstGeom>
          <a:solidFill>
            <a:srgbClr val="F4F6F8"/>
          </a:solidFill>
          <a:ln>
            <a:solidFill>
              <a:srgbClr val="BEC3C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28232" y="1207008"/>
            <a:ext cx="4023360" cy="438912"/>
          </a:xfrm>
          <a:prstGeom prst="rect">
            <a:avLst/>
          </a:prstGeom>
          <a:noFill/>
        </p:spPr>
        <p:txBody>
          <a:bodyPr wrap="none">
            <a:spAutoFit/>
          </a:bodyPr>
          <a:lstStyle/>
          <a:p>
            <a:pPr>
              <a:defRPr sz="2100" b="1">
                <a:solidFill>
                  <a:srgbClr val="000000"/>
                </a:solidFill>
                <a:latin typeface="Arial"/>
              </a:defRPr>
            </a:pPr>
            <a:r>
              <a:t>Explanation</a:t>
            </a:r>
          </a:p>
        </p:txBody>
      </p:sp>
      <p:sp>
        <p:nvSpPr>
          <p:cNvPr id="8" name="TextBox 7"/>
          <p:cNvSpPr txBox="1"/>
          <p:nvPr/>
        </p:nvSpPr>
        <p:spPr>
          <a:xfrm>
            <a:off x="6419088" y="1719072"/>
            <a:ext cx="3977639" cy="4251960"/>
          </a:xfrm>
          <a:prstGeom prst="rect">
            <a:avLst/>
          </a:prstGeom>
          <a:noFill/>
        </p:spPr>
        <p:txBody>
          <a:bodyPr wrap="square" lIns="0" tIns="0" rIns="0" bIns="0">
            <a:spAutoFit/>
          </a:bodyPr>
          <a:lstStyle/>
          <a:p>
            <a:pPr>
              <a:spcAft>
                <a:spcPts val="1100"/>
              </a:spcAft>
              <a:defRPr sz="1550">
                <a:solidFill>
                  <a:srgbClr val="232323"/>
                </a:solidFill>
                <a:latin typeface="Arial"/>
              </a:defRPr>
            </a:pPr>
            <a:r>
              <a:t>• The regional comparison shows substantial differences in median profit across states.</a:t>
            </a:r>
          </a:p>
          <a:p>
            <a:pPr>
              <a:spcAft>
                <a:spcPts val="1100"/>
              </a:spcAft>
              <a:defRPr sz="1550">
                <a:solidFill>
                  <a:srgbClr val="232323"/>
                </a:solidFill>
                <a:latin typeface="Arial"/>
              </a:defRPr>
            </a:pPr>
            <a:r>
              <a:t>• Telangana, Karnataka and Punjab are among the strongest positive-profit regions in the displayed results.</a:t>
            </a:r>
          </a:p>
          <a:p>
            <a:pPr>
              <a:spcAft>
                <a:spcPts val="1100"/>
              </a:spcAft>
              <a:defRPr sz="1550">
                <a:solidFill>
                  <a:srgbClr val="232323"/>
                </a:solidFill>
                <a:latin typeface="Arial"/>
              </a:defRPr>
            </a:pPr>
            <a:r>
              <a:t>• Andhra Pradesh, Madhya Pradesh, Tamil Nadu and Maharashtra show negative median profit in the chart.</a:t>
            </a:r>
          </a:p>
          <a:p>
            <a:pPr>
              <a:spcAft>
                <a:spcPts val="1100"/>
              </a:spcAft>
              <a:defRPr sz="1550">
                <a:solidFill>
                  <a:srgbClr val="232323"/>
                </a:solidFill>
                <a:latin typeface="Arial"/>
              </a:defRPr>
            </a:pPr>
            <a:r>
              <a:t>• Regional differences can guide further investigation into crop mix, costs, resources and local conditions.</a:t>
            </a:r>
          </a:p>
        </p:txBody>
      </p:sp>
      <p:sp>
        <p:nvSpPr>
          <p:cNvPr id="9" name="TextBox 8"/>
          <p:cNvSpPr txBox="1"/>
          <p:nvPr/>
        </p:nvSpPr>
        <p:spPr>
          <a:xfrm>
            <a:off x="9921240" y="6263640"/>
            <a:ext cx="777240" cy="228600"/>
          </a:xfrm>
          <a:prstGeom prst="rect">
            <a:avLst/>
          </a:prstGeom>
          <a:noFill/>
        </p:spPr>
        <p:txBody>
          <a:bodyPr wrap="none">
            <a:spAutoFit/>
          </a:bodyPr>
          <a:lstStyle/>
          <a:p>
            <a:pPr algn="r">
              <a:defRPr sz="800">
                <a:solidFill>
                  <a:srgbClr val="646464"/>
                </a:solidFill>
                <a:latin typeface="Arial"/>
              </a:defRPr>
            </a:pPr>
            <a:r>
              <a:t>08/08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24" name="TextBox 23"/>
          <p:cNvSpPr txBox="1"/>
          <p:nvPr/>
        </p:nvSpPr>
        <p:spPr>
          <a:xfrm>
            <a:off x="685799" y="585951"/>
            <a:ext cx="8046720" cy="689420"/>
          </a:xfrm>
          <a:prstGeom prst="rect">
            <a:avLst/>
          </a:prstGeom>
          <a:noFill/>
        </p:spPr>
        <p:txBody>
          <a:bodyPr wrap="square" lIns="36576" tIns="36576" rIns="36576" bIns="36576">
            <a:spAutoFit/>
          </a:bodyPr>
          <a:lstStyle/>
          <a:p>
            <a:pPr algn="l"/>
            <a:r>
              <a:rPr sz="4000" b="1" dirty="0">
                <a:solidFill>
                  <a:srgbClr val="191919"/>
                </a:solidFill>
                <a:latin typeface="Aptos"/>
              </a:rPr>
              <a:t>Future Scope</a:t>
            </a:r>
          </a:p>
        </p:txBody>
      </p:sp>
      <p:sp>
        <p:nvSpPr>
          <p:cNvPr id="25" name="TextBox 24"/>
          <p:cNvSpPr txBox="1"/>
          <p:nvPr/>
        </p:nvSpPr>
        <p:spPr>
          <a:xfrm>
            <a:off x="685799" y="1325880"/>
            <a:ext cx="9538063" cy="3953903"/>
          </a:xfrm>
          <a:prstGeom prst="rect">
            <a:avLst/>
          </a:prstGeom>
          <a:noFill/>
        </p:spPr>
        <p:txBody>
          <a:bodyPr wrap="square" lIns="45720" tIns="27432" rIns="45720" bIns="27432">
            <a:spAutoFit/>
          </a:bodyPr>
          <a:lstStyle/>
          <a:p>
            <a:pPr>
              <a:spcAft>
                <a:spcPts val="400"/>
              </a:spcAft>
              <a:defRPr sz="1600">
                <a:solidFill>
                  <a:srgbClr val="191919"/>
                </a:solidFill>
                <a:latin typeface="Aptos"/>
              </a:defRPr>
            </a:pPr>
            <a:r>
              <a:rPr sz="2400" dirty="0"/>
              <a:t>• Extend the analysis with multi-year historical data to study long-term seasonal and climate trends.</a:t>
            </a:r>
          </a:p>
          <a:p>
            <a:pPr>
              <a:spcAft>
                <a:spcPts val="400"/>
              </a:spcAft>
              <a:defRPr sz="1600">
                <a:solidFill>
                  <a:srgbClr val="191919"/>
                </a:solidFill>
                <a:latin typeface="Aptos"/>
              </a:defRPr>
            </a:pPr>
            <a:r>
              <a:rPr sz="2400" dirty="0"/>
              <a:t>• Add more granular weather, soil, pest and local market variables to reduce the impact of unmeasured confounding factors.</a:t>
            </a:r>
          </a:p>
          <a:p>
            <a:pPr>
              <a:spcAft>
                <a:spcPts val="400"/>
              </a:spcAft>
              <a:defRPr sz="1600">
                <a:solidFill>
                  <a:srgbClr val="191919"/>
                </a:solidFill>
                <a:latin typeface="Aptos"/>
              </a:defRPr>
            </a:pPr>
            <a:r>
              <a:rPr sz="2400" dirty="0"/>
              <a:t>• Track dynamic market prices and input costs to study real-time profitability changes.</a:t>
            </a:r>
          </a:p>
          <a:p>
            <a:pPr>
              <a:spcAft>
                <a:spcPts val="400"/>
              </a:spcAft>
              <a:defRPr sz="1600">
                <a:solidFill>
                  <a:srgbClr val="191919"/>
                </a:solidFill>
                <a:latin typeface="Aptos"/>
              </a:defRPr>
            </a:pPr>
            <a:r>
              <a:rPr sz="2400" dirty="0"/>
              <a:t>• Build predictive or decision-support models in a future phase, if required, using the insights established in this analytics project.</a:t>
            </a:r>
          </a:p>
          <a:p>
            <a:pPr>
              <a:spcAft>
                <a:spcPts val="400"/>
              </a:spcAft>
              <a:defRPr sz="1600">
                <a:solidFill>
                  <a:srgbClr val="191919"/>
                </a:solidFill>
                <a:latin typeface="Aptos"/>
              </a:defRPr>
            </a:pPr>
            <a:r>
              <a:rPr sz="2400" dirty="0"/>
              <a:t>• Validate key findings with larger and more geographically diverse datasets.</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a:spAutoFit/>
          </a:bodyPr>
          <a:lstStyle/>
          <a:p>
            <a:endParaRPr/>
          </a:p>
        </p:txBody>
      </p:sp>
      <p:sp>
        <p:nvSpPr>
          <p:cNvPr id="24" name="TextBox 23"/>
          <p:cNvSpPr txBox="1"/>
          <p:nvPr/>
        </p:nvSpPr>
        <p:spPr>
          <a:xfrm>
            <a:off x="621792" y="347472"/>
            <a:ext cx="8046720" cy="689420"/>
          </a:xfrm>
          <a:prstGeom prst="rect">
            <a:avLst/>
          </a:prstGeom>
          <a:noFill/>
        </p:spPr>
        <p:txBody>
          <a:bodyPr wrap="square" lIns="36576" tIns="36576" rIns="36576" bIns="36576">
            <a:spAutoFit/>
          </a:bodyPr>
          <a:lstStyle/>
          <a:p>
            <a:pPr algn="l"/>
            <a:r>
              <a:rPr sz="4000" b="1" dirty="0">
                <a:solidFill>
                  <a:srgbClr val="191919"/>
                </a:solidFill>
                <a:latin typeface="Aptos"/>
              </a:rPr>
              <a:t>GitHub Link</a:t>
            </a:r>
          </a:p>
        </p:txBody>
      </p:sp>
      <p:sp>
        <p:nvSpPr>
          <p:cNvPr id="25" name="TextBox 24"/>
          <p:cNvSpPr txBox="1"/>
          <p:nvPr/>
        </p:nvSpPr>
        <p:spPr>
          <a:xfrm>
            <a:off x="731520" y="1325880"/>
            <a:ext cx="7863840" cy="914400"/>
          </a:xfrm>
          <a:prstGeom prst="rect">
            <a:avLst/>
          </a:prstGeom>
          <a:noFill/>
        </p:spPr>
        <p:txBody>
          <a:bodyPr wrap="square" lIns="36576" tIns="36576" rIns="36576" bIns="36576">
            <a:spAutoFit/>
          </a:bodyPr>
          <a:lstStyle/>
          <a:p>
            <a:pPr algn="l"/>
            <a:r>
              <a:rPr sz="1600" b="0">
                <a:solidFill>
                  <a:srgbClr val="145484"/>
                </a:solidFill>
                <a:latin typeface="Aptos"/>
                <a:hlinkClick r:id="rId2"/>
              </a:rPr>
              <a:t>https://github.com/rajanaveenalajangi/-Seasonal-Agriculture-Performance-Analysis</a:t>
            </a:r>
          </a:p>
        </p:txBody>
      </p:sp>
      <p:sp>
        <p:nvSpPr>
          <p:cNvPr id="26" name="TextBox 25"/>
          <p:cNvSpPr txBox="1"/>
          <p:nvPr/>
        </p:nvSpPr>
        <p:spPr>
          <a:xfrm>
            <a:off x="729256" y="1814298"/>
            <a:ext cx="7680960" cy="1181862"/>
          </a:xfrm>
          <a:prstGeom prst="rect">
            <a:avLst/>
          </a:prstGeom>
          <a:noFill/>
        </p:spPr>
        <p:txBody>
          <a:bodyPr wrap="square" lIns="36576" tIns="36576" rIns="36576" bIns="36576">
            <a:spAutoFit/>
          </a:bodyPr>
          <a:lstStyle/>
          <a:p>
            <a:pPr algn="l"/>
            <a:r>
              <a:rPr sz="2400" b="0" dirty="0">
                <a:solidFill>
                  <a:srgbClr val="191919"/>
                </a:solidFill>
                <a:latin typeface="Aptos"/>
              </a:rPr>
              <a:t>The repository contains the project notebook and analysis workflow used for data preparation, exploratory analysis, visualization, insights and recommendations.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24" name="TextBox 23"/>
          <p:cNvSpPr txBox="1"/>
          <p:nvPr/>
        </p:nvSpPr>
        <p:spPr>
          <a:xfrm>
            <a:off x="621791" y="347472"/>
            <a:ext cx="9628197" cy="1304973"/>
          </a:xfrm>
          <a:prstGeom prst="rect">
            <a:avLst/>
          </a:prstGeom>
          <a:noFill/>
        </p:spPr>
        <p:txBody>
          <a:bodyPr wrap="square" lIns="36576" tIns="36576" rIns="36576" bIns="36576">
            <a:spAutoFit/>
          </a:bodyPr>
          <a:lstStyle/>
          <a:p>
            <a:pPr algn="l"/>
            <a:r>
              <a:rPr sz="4000" b="1" dirty="0">
                <a:solidFill>
                  <a:srgbClr val="191919"/>
                </a:solidFill>
                <a:latin typeface="Aptos"/>
              </a:rPr>
              <a:t>VOIS Course Completion Certificate — Data Visualization</a:t>
            </a:r>
          </a:p>
        </p:txBody>
      </p:sp>
      <p:pic>
        <p:nvPicPr>
          <p:cNvPr id="26" name="Picture 25" descr="certificate-1.png"/>
          <p:cNvPicPr>
            <a:picLocks noChangeAspect="1"/>
          </p:cNvPicPr>
          <p:nvPr/>
        </p:nvPicPr>
        <p:blipFill>
          <a:blip r:embed="rId2"/>
          <a:stretch>
            <a:fillRect/>
          </a:stretch>
        </p:blipFill>
        <p:spPr>
          <a:xfrm>
            <a:off x="621791" y="1608410"/>
            <a:ext cx="10445931" cy="448534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65040" y="2089183"/>
            <a:ext cx="11340000" cy="700114"/>
          </a:xfrm>
          <a:prstGeom prst="rect">
            <a:avLst/>
          </a:prstGeom>
        </p:spPr>
        <p:txBody>
          <a:bodyPr wrap="square" lIns="54864" tIns="54864" rIns="54864" bIns="54864" anchor="ctr">
            <a:noAutofit/>
          </a:bodyPr>
          <a:lstStyle/>
          <a:p>
            <a:pPr algn="ctr"/>
            <a:r>
              <a:rPr sz="8000" b="1" dirty="0">
                <a:solidFill>
                  <a:srgbClr val="191919"/>
                </a:solidFill>
                <a:latin typeface="Aptos"/>
              </a:rPr>
              <a:t>Thank you</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a:p>
        </p:txBody>
      </p:sp>
      <p:sp>
        <p:nvSpPr>
          <p:cNvPr id="46" name="TextBox 45"/>
          <p:cNvSpPr txBox="1"/>
          <p:nvPr/>
        </p:nvSpPr>
        <p:spPr>
          <a:xfrm>
            <a:off x="2011680" y="2880360"/>
            <a:ext cx="8046720" cy="502920"/>
          </a:xfrm>
          <a:prstGeom prst="rect">
            <a:avLst/>
          </a:prstGeom>
          <a:noFill/>
        </p:spPr>
        <p:txBody>
          <a:bodyPr wrap="square" lIns="36576" tIns="36576" rIns="36576" bIns="36576">
            <a:spAutoFit/>
          </a:bodyPr>
          <a:lstStyle/>
          <a:p>
            <a:pPr algn="ctr"/>
            <a:r>
              <a:rPr sz="2000" b="1">
                <a:solidFill>
                  <a:srgbClr val="145484"/>
                </a:solidFill>
                <a:latin typeface="Aptos"/>
              </a:rPr>
              <a:t>Seasonal Agriculture Performance Analysis</a:t>
            </a:r>
          </a:p>
        </p:txBody>
      </p:sp>
      <p:sp>
        <p:nvSpPr>
          <p:cNvPr id="47" name="TextBox 46"/>
          <p:cNvSpPr txBox="1"/>
          <p:nvPr/>
        </p:nvSpPr>
        <p:spPr>
          <a:xfrm>
            <a:off x="2011680" y="3429000"/>
            <a:ext cx="8046720" cy="411480"/>
          </a:xfrm>
          <a:prstGeom prst="rect">
            <a:avLst/>
          </a:prstGeom>
          <a:noFill/>
        </p:spPr>
        <p:txBody>
          <a:bodyPr wrap="square" lIns="36576" tIns="36576" rIns="36576" bIns="36576">
            <a:spAutoFit/>
          </a:bodyPr>
          <a:lstStyle/>
          <a:p>
            <a:pPr algn="ctr"/>
            <a:r>
              <a:rPr sz="1500" b="0">
                <a:solidFill>
                  <a:srgbClr val="191919"/>
                </a:solidFill>
                <a:latin typeface="Aptos"/>
              </a:rPr>
              <a:t>Alajangi Raja Naveen Naidu  •  Raghu Engineering College</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20"/>
                                        </p:tgtEl>
                                        <p:attrNameLst>
                                          <p:attrName>style.visibility</p:attrName>
                                        </p:attrNameLst>
                                      </p:cBhvr>
                                      <p:to>
                                        <p:strVal val="visible"/>
                                      </p:to>
                                    </p:set>
                                    <p:anim calcmode="lin" valueType="num">
                                      <p:cBhvr additive="base">
                                        <p:cTn id="20" dur="500"/>
                                        <p:tgtEl>
                                          <p:spTgt spid="20"/>
                                        </p:tgtEl>
                                        <p:attrNameLst>
                                          <p:attrName>ppt_y</p:attrName>
                                        </p:attrNameLst>
                                      </p:cBhvr>
                                      <p:tavLst>
                                        <p:tav tm="0">
                                          <p:val>
                                            <p:strVal val="#ppt_y+#ppt_h*1.125000"/>
                                          </p:val>
                                        </p:tav>
                                        <p:tav tm="100000">
                                          <p:val>
                                            <p:strVal val="#ppt_y"/>
                                          </p:val>
                                        </p:tav>
                                      </p:tavLst>
                                    </p:anim>
                                    <p:animEffect transition="in" filter="wipe(up)">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30"/>
                                        </p:tgtEl>
                                        <p:attrNameLst>
                                          <p:attrName>style.visibility</p:attrName>
                                        </p:attrNameLst>
                                      </p:cBhvr>
                                      <p:to>
                                        <p:strVal val="visible"/>
                                      </p:to>
                                    </p:set>
                                    <p:anim calcmode="lin" valueType="num">
                                      <p:cBhvr additive="base">
                                        <p:cTn id="26" dur="500"/>
                                        <p:tgtEl>
                                          <p:spTgt spid="30"/>
                                        </p:tgtEl>
                                        <p:attrNameLst>
                                          <p:attrName>ppt_y</p:attrName>
                                        </p:attrNameLst>
                                      </p:cBhvr>
                                      <p:tavLst>
                                        <p:tav tm="0">
                                          <p:val>
                                            <p:strVal val="#ppt_y+#ppt_h*1.125000"/>
                                          </p:val>
                                        </p:tav>
                                        <p:tav tm="100000">
                                          <p:val>
                                            <p:strVal val="#ppt_y"/>
                                          </p:val>
                                        </p:tav>
                                      </p:tavLst>
                                    </p:anim>
                                    <p:animEffect transition="in" filter="wipe(up)">
                                      <p:cBhvr>
                                        <p:cTn id="27" dur="500"/>
                                        <p:tgtEl>
                                          <p:spTgt spid="3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500"/>
                                        <p:tgtEl>
                                          <p:spTgt spid="23"/>
                                        </p:tgtEl>
                                        <p:attrNameLst>
                                          <p:attrName>ppt_y</p:attrName>
                                        </p:attrNameLst>
                                      </p:cBhvr>
                                      <p:tavLst>
                                        <p:tav tm="0">
                                          <p:val>
                                            <p:strVal val="#ppt_y+#ppt_h*1.125000"/>
                                          </p:val>
                                        </p:tav>
                                        <p:tav tm="100000">
                                          <p:val>
                                            <p:strVal val="#ppt_y"/>
                                          </p:val>
                                        </p:tav>
                                      </p:tavLst>
                                    </p:anim>
                                    <p:animEffect transition="in" filter="wipe(up)">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p:stCondLst>
                                    <p:cond delay="0"/>
                                  </p:stCondLst>
                                  <p:childTnLst>
                                    <p:set>
                                      <p:cBhvr>
                                        <p:cTn id="37" dur="1" fill="hold">
                                          <p:stCondLst>
                                            <p:cond delay="0"/>
                                          </p:stCondLst>
                                        </p:cTn>
                                        <p:tgtEl>
                                          <p:spTgt spid="32"/>
                                        </p:tgtEl>
                                        <p:attrNameLst>
                                          <p:attrName>style.visibility</p:attrName>
                                        </p:attrNameLst>
                                      </p:cBhvr>
                                      <p:to>
                                        <p:strVal val="visible"/>
                                      </p:to>
                                    </p:set>
                                    <p:anim calcmode="lin" valueType="num">
                                      <p:cBhvr additive="base">
                                        <p:cTn id="38" dur="500"/>
                                        <p:tgtEl>
                                          <p:spTgt spid="32"/>
                                        </p:tgtEl>
                                        <p:attrNameLst>
                                          <p:attrName>ppt_y</p:attrName>
                                        </p:attrNameLst>
                                      </p:cBhvr>
                                      <p:tavLst>
                                        <p:tav tm="0">
                                          <p:val>
                                            <p:strVal val="#ppt_y+#ppt_h*1.125000"/>
                                          </p:val>
                                        </p:tav>
                                        <p:tav tm="100000">
                                          <p:val>
                                            <p:strVal val="#ppt_y"/>
                                          </p:val>
                                        </p:tav>
                                      </p:tavLst>
                                    </p:anim>
                                    <p:animEffect transition="in" filter="wipe(up)">
                                      <p:cBhvr>
                                        <p:cTn id="39"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1365</TotalTime>
  <Words>1042</Words>
  <Application>Microsoft Office PowerPoint</Application>
  <PresentationFormat>Widescreen</PresentationFormat>
  <Paragraphs>99</Paragraphs>
  <Slides>17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Aptos</vt:lpstr>
      <vt:lpstr>Arial</vt:lpstr>
      <vt:lpstr>Calibri</vt:lpstr>
      <vt:lpstr>Trebuchet MS</vt:lpstr>
      <vt:lpstr>Wingdings</vt:lpstr>
      <vt:lpstr>Wingdings 3</vt:lpstr>
      <vt:lpstr>Facet</vt:lpstr>
      <vt:lpstr>Project Title -</vt:lpstr>
      <vt:lpstr>PROBLEM STATEMENT</vt:lpstr>
      <vt:lpstr>Project Description</vt:lpstr>
      <vt:lpstr>WHO ARE THE END USERS?</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rajasekhar naidu alajangi</cp:lastModifiedBy>
  <cp:revision>99</cp:revision>
  <dcterms:created xsi:type="dcterms:W3CDTF">2021-07-11T13:13:15Z</dcterms:created>
  <dcterms:modified xsi:type="dcterms:W3CDTF">2026-09-15T09:30:13Z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